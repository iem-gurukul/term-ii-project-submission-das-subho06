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Nirand Bold" charset="1" panose="00000000000000000000"/>
      <p:regular r:id="rId13"/>
    </p:embeddedFont>
    <p:embeddedFont>
      <p:font typeface="Nunito Bold" charset="1" panose="00000000000000000000"/>
      <p:regular r:id="rId14"/>
    </p:embeddedFont>
    <p:embeddedFont>
      <p:font typeface="Nunito" charset="1" panose="000000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C0D1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92504" y="-2406016"/>
            <a:ext cx="16040420" cy="1604042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93642" y="1478529"/>
            <a:ext cx="11615330" cy="3196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87"/>
              </a:lnSpc>
            </a:pPr>
            <a:r>
              <a:rPr lang="en-US" sz="5776" b="true">
                <a:solidFill>
                  <a:srgbClr val="627484"/>
                </a:solidFill>
                <a:latin typeface="Nirand Bold"/>
                <a:ea typeface="Nirand Bold"/>
                <a:cs typeface="Nirand Bold"/>
                <a:sym typeface="Nirand Bold"/>
              </a:rPr>
              <a:t>InvenTrack: Inventory Management System Using DAO Pattern with File Persistence 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359304" y="488689"/>
            <a:ext cx="2513081" cy="2513081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-1700579" y="1028700"/>
            <a:ext cx="7733905" cy="0"/>
          </a:xfrm>
          <a:prstGeom prst="line">
            <a:avLst/>
          </a:prstGeom>
          <a:ln cap="flat" w="38100">
            <a:solidFill>
              <a:srgbClr val="2E3A44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10" id="10"/>
          <p:cNvSpPr/>
          <p:nvPr/>
        </p:nvSpPr>
        <p:spPr>
          <a:xfrm>
            <a:off x="11230885" y="9258300"/>
            <a:ext cx="7770392" cy="0"/>
          </a:xfrm>
          <a:prstGeom prst="line">
            <a:avLst/>
          </a:prstGeom>
          <a:ln cap="flat" w="38100">
            <a:solidFill>
              <a:srgbClr val="2E3A44"/>
            </a:solidFill>
            <a:prstDash val="solid"/>
            <a:headEnd type="oval" len="lg" w="lg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1629410" y="7236435"/>
            <a:ext cx="1586288" cy="1586288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7799152" y="5900480"/>
            <a:ext cx="10488848" cy="2922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4"/>
              </a:lnSpc>
            </a:pPr>
            <a:r>
              <a:rPr lang="en-US" sz="2074" b="true">
                <a:solidFill>
                  <a:srgbClr val="2E3A44"/>
                </a:solidFill>
                <a:latin typeface="Nunito Bold"/>
                <a:ea typeface="Nunito Bold"/>
                <a:cs typeface="Nunito Bold"/>
                <a:sym typeface="Nunito Bold"/>
              </a:rPr>
              <a:t>Course: PCCCS495: Advanced Programming (OOP) Lab</a:t>
            </a:r>
          </a:p>
          <a:p>
            <a:pPr algn="l">
              <a:lnSpc>
                <a:spcPts val="2904"/>
              </a:lnSpc>
            </a:pPr>
            <a:r>
              <a:rPr lang="en-US" sz="2074" b="true">
                <a:solidFill>
                  <a:srgbClr val="2E3A44"/>
                </a:solidFill>
                <a:latin typeface="Nunito Bold"/>
                <a:ea typeface="Nunito Bold"/>
                <a:cs typeface="Nunito Bold"/>
                <a:sym typeface="Nunito Bold"/>
              </a:rPr>
              <a:t>Term II Project </a:t>
            </a:r>
          </a:p>
          <a:p>
            <a:pPr algn="l">
              <a:lnSpc>
                <a:spcPts val="2904"/>
              </a:lnSpc>
            </a:pPr>
            <a:r>
              <a:rPr lang="en-US" sz="2074" b="true">
                <a:solidFill>
                  <a:srgbClr val="2E3A44"/>
                </a:solidFill>
                <a:latin typeface="Nunito Bold"/>
                <a:ea typeface="Nunito Bold"/>
                <a:cs typeface="Nunito Bold"/>
                <a:sym typeface="Nunito Bold"/>
              </a:rPr>
              <a:t>Submitted by: Subhashree Das </a:t>
            </a:r>
          </a:p>
          <a:p>
            <a:pPr algn="l">
              <a:lnSpc>
                <a:spcPts val="2904"/>
              </a:lnSpc>
            </a:pPr>
            <a:r>
              <a:rPr lang="en-US" sz="2074" b="true">
                <a:solidFill>
                  <a:srgbClr val="2E3A44"/>
                </a:solidFill>
                <a:latin typeface="Nunito Bold"/>
                <a:ea typeface="Nunito Bold"/>
                <a:cs typeface="Nunito Bold"/>
                <a:sym typeface="Nunito Bold"/>
              </a:rPr>
              <a:t>Class Roll no.: 64</a:t>
            </a:r>
          </a:p>
          <a:p>
            <a:pPr algn="l">
              <a:lnSpc>
                <a:spcPts val="2904"/>
              </a:lnSpc>
            </a:pPr>
            <a:r>
              <a:rPr lang="en-US" sz="2074" b="true">
                <a:solidFill>
                  <a:srgbClr val="2E3A44"/>
                </a:solidFill>
                <a:latin typeface="Nunito Bold"/>
                <a:ea typeface="Nunito Bold"/>
                <a:cs typeface="Nunito Bold"/>
                <a:sym typeface="Nunito Bold"/>
              </a:rPr>
              <a:t> Enrollment no.: 12024052017066</a:t>
            </a:r>
          </a:p>
          <a:p>
            <a:pPr algn="l">
              <a:lnSpc>
                <a:spcPts val="2904"/>
              </a:lnSpc>
            </a:pPr>
            <a:r>
              <a:rPr lang="en-US" sz="2074" b="true">
                <a:solidFill>
                  <a:srgbClr val="2E3A44"/>
                </a:solidFill>
                <a:latin typeface="Nunito Bold"/>
                <a:ea typeface="Nunito Bold"/>
                <a:cs typeface="Nunito Bold"/>
                <a:sym typeface="Nunito Bold"/>
              </a:rPr>
              <a:t>Department: CSE(IOT CS BT)</a:t>
            </a:r>
          </a:p>
          <a:p>
            <a:pPr algn="l">
              <a:lnSpc>
                <a:spcPts val="2904"/>
              </a:lnSpc>
            </a:pPr>
            <a:r>
              <a:rPr lang="en-US" sz="2074" b="true">
                <a:solidFill>
                  <a:srgbClr val="2E3A44"/>
                </a:solidFill>
                <a:latin typeface="Nunito Bold"/>
                <a:ea typeface="Nunito Bold"/>
                <a:cs typeface="Nunito Bold"/>
                <a:sym typeface="Nunito Bold"/>
              </a:rPr>
              <a:t>Course Instructor: Soumadip Biswas Sir, Susovan Jana Sir, Swagatam Basu Sir.</a:t>
            </a:r>
          </a:p>
          <a:p>
            <a:pPr algn="l">
              <a:lnSpc>
                <a:spcPts val="2904"/>
              </a:lnSpc>
            </a:pPr>
            <a:r>
              <a:rPr lang="en-US" sz="2074" b="true">
                <a:solidFill>
                  <a:srgbClr val="2E3A44"/>
                </a:solidFill>
                <a:latin typeface="Nunito Bold"/>
                <a:ea typeface="Nunito Bold"/>
                <a:cs typeface="Nunito Bold"/>
                <a:sym typeface="Nunito Bold"/>
              </a:rPr>
              <a:t>Semester: 4th (Spring 2026)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440631" y="-5019557"/>
            <a:ext cx="14522629" cy="1452262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D1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3384836"/>
            <a:ext cx="3517329" cy="351732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028700" y="9258300"/>
            <a:ext cx="16185445" cy="0"/>
          </a:xfrm>
          <a:prstGeom prst="line">
            <a:avLst/>
          </a:prstGeom>
          <a:ln cap="flat" w="38100">
            <a:solidFill>
              <a:srgbClr val="2E3A44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9" id="9"/>
          <p:cNvGrpSpPr/>
          <p:nvPr/>
        </p:nvGrpSpPr>
        <p:grpSpPr>
          <a:xfrm rot="0">
            <a:off x="3153796" y="6668639"/>
            <a:ext cx="1586288" cy="158628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6017063" y="883470"/>
            <a:ext cx="11197082" cy="149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b="true" sz="7500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PROBLEM STATEMENT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510920" y="2912295"/>
            <a:ext cx="8209367" cy="1353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Manual inventory management in small businesses leads to data loss, inefficient tracking, lack of search functionality, and no automated low-stock alerts.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017063" y="4495800"/>
            <a:ext cx="11197082" cy="149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b="true" sz="7500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TARGET USERS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258524" y="5973159"/>
            <a:ext cx="8209367" cy="181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Small shop owners &amp; retail stores</a:t>
            </a:r>
          </a:p>
          <a:p>
            <a:pPr algn="just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Local businesses managing inventory manually</a:t>
            </a:r>
          </a:p>
          <a:p>
            <a:pPr algn="just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Beginners learning Java OOP &amp; system design</a:t>
            </a:r>
          </a:p>
          <a:p>
            <a:pPr algn="just">
              <a:lnSpc>
                <a:spcPts val="364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42612" y="394769"/>
            <a:ext cx="6880458" cy="688045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D1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523108" y="2540483"/>
            <a:ext cx="3517329" cy="351732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028700" y="9258300"/>
            <a:ext cx="16185445" cy="0"/>
          </a:xfrm>
          <a:prstGeom prst="line">
            <a:avLst/>
          </a:prstGeom>
          <a:ln cap="flat" w="38100">
            <a:solidFill>
              <a:srgbClr val="2E3A44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9" id="9"/>
          <p:cNvGrpSpPr/>
          <p:nvPr/>
        </p:nvGrpSpPr>
        <p:grpSpPr>
          <a:xfrm rot="0">
            <a:off x="-557588" y="7275227"/>
            <a:ext cx="1586288" cy="158628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607683" y="3411389"/>
            <a:ext cx="5155022" cy="182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2E3A44"/>
                </a:solidFill>
                <a:latin typeface="Nunito Bold"/>
                <a:ea typeface="Nunito Bold"/>
                <a:cs typeface="Nunito Bold"/>
                <a:sym typeface="Nunito Bold"/>
              </a:rPr>
              <a:t>Model Layer: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Responsibility: Data representation using Product, Category, Supplier classes.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595001" y="42344"/>
            <a:ext cx="8334818" cy="2828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b="true" sz="7500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SYSTEM ARCHITECTURE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25295" y="3411389"/>
            <a:ext cx="5155022" cy="182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2E3A44"/>
                </a:solidFill>
                <a:latin typeface="Nunito Bold"/>
                <a:ea typeface="Nunito Bold"/>
                <a:cs typeface="Nunito Bold"/>
                <a:sym typeface="Nunito Bold"/>
              </a:rPr>
              <a:t>DAO Layer: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Responsibility: Data access and persistence through interfaces and file persistence.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607683" y="6371245"/>
            <a:ext cx="5155022" cy="1370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2E3A44"/>
                </a:solidFill>
                <a:latin typeface="Nunito Bold"/>
                <a:ea typeface="Nunito Bold"/>
                <a:cs typeface="Nunito Bold"/>
                <a:sym typeface="Nunito Bold"/>
              </a:rPr>
              <a:t>Service Layer: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Responsibility: Contains core business logic and validation rules.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25295" y="6371245"/>
            <a:ext cx="5155022" cy="2285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2E3A44"/>
                </a:solidFill>
                <a:latin typeface="Nunito Bold"/>
                <a:ea typeface="Nunito Bold"/>
                <a:cs typeface="Nunito Bold"/>
                <a:sym typeface="Nunito Bold"/>
              </a:rPr>
              <a:t>UI Layer: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Responsibility: Presents information and handles user interaction via a Swing-based dashboard.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417447" y="7372841"/>
            <a:ext cx="8028675" cy="8028675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D1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028700" y="9258300"/>
            <a:ext cx="16185445" cy="0"/>
          </a:xfrm>
          <a:prstGeom prst="line">
            <a:avLst/>
          </a:prstGeom>
          <a:ln cap="flat" w="38100">
            <a:solidFill>
              <a:srgbClr val="2E3A44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6" id="6"/>
          <p:cNvGrpSpPr/>
          <p:nvPr/>
        </p:nvGrpSpPr>
        <p:grpSpPr>
          <a:xfrm rot="0">
            <a:off x="322038" y="-1115182"/>
            <a:ext cx="2230365" cy="223036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3517304" y="288019"/>
            <a:ext cx="11253392" cy="2828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b="true" sz="7500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OOP CONCEPTS DEMONSTRATED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637335" y="4593859"/>
            <a:ext cx="3086100" cy="1034820"/>
            <a:chOff x="0" y="0"/>
            <a:chExt cx="812800" cy="27254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272545"/>
            </a:xfrm>
            <a:custGeom>
              <a:avLst/>
              <a:gdLst/>
              <a:ahLst/>
              <a:cxnLst/>
              <a:rect r="r" b="b" t="t" l="l"/>
              <a:pathLst>
                <a:path h="272545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44604"/>
                  </a:lnTo>
                  <a:cubicBezTo>
                    <a:pt x="812800" y="178536"/>
                    <a:pt x="799321" y="211079"/>
                    <a:pt x="775327" y="235072"/>
                  </a:cubicBezTo>
                  <a:cubicBezTo>
                    <a:pt x="751333" y="259066"/>
                    <a:pt x="718791" y="272545"/>
                    <a:pt x="684859" y="272545"/>
                  </a:cubicBezTo>
                  <a:lnTo>
                    <a:pt x="127941" y="272545"/>
                  </a:lnTo>
                  <a:cubicBezTo>
                    <a:pt x="94009" y="272545"/>
                    <a:pt x="61467" y="259066"/>
                    <a:pt x="37473" y="235072"/>
                  </a:cubicBezTo>
                  <a:cubicBezTo>
                    <a:pt x="13479" y="211079"/>
                    <a:pt x="0" y="178536"/>
                    <a:pt x="0" y="144604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C0D1D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812800" cy="310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437221" y="5803123"/>
            <a:ext cx="3486328" cy="1353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DAO interfaces declare methods without implementation.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80393" y="4814058"/>
            <a:ext cx="2199984" cy="537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56"/>
              </a:lnSpc>
            </a:pPr>
            <a:r>
              <a:rPr lang="en-US" sz="3183" b="true">
                <a:solidFill>
                  <a:srgbClr val="2E3A44"/>
                </a:solidFill>
                <a:latin typeface="Nunito Bold"/>
                <a:ea typeface="Nunito Bold"/>
                <a:cs typeface="Nunito Bold"/>
                <a:sym typeface="Nunito Bold"/>
              </a:rPr>
              <a:t>Abstraction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716913" y="4593859"/>
            <a:ext cx="3086100" cy="1034820"/>
            <a:chOff x="0" y="0"/>
            <a:chExt cx="812800" cy="2725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272545"/>
            </a:xfrm>
            <a:custGeom>
              <a:avLst/>
              <a:gdLst/>
              <a:ahLst/>
              <a:cxnLst/>
              <a:rect r="r" b="b" t="t" l="l"/>
              <a:pathLst>
                <a:path h="272545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44604"/>
                  </a:lnTo>
                  <a:cubicBezTo>
                    <a:pt x="812800" y="178536"/>
                    <a:pt x="799321" y="211079"/>
                    <a:pt x="775327" y="235072"/>
                  </a:cubicBezTo>
                  <a:cubicBezTo>
                    <a:pt x="751333" y="259066"/>
                    <a:pt x="718791" y="272545"/>
                    <a:pt x="684859" y="272545"/>
                  </a:cubicBezTo>
                  <a:lnTo>
                    <a:pt x="127941" y="272545"/>
                  </a:lnTo>
                  <a:cubicBezTo>
                    <a:pt x="94009" y="272545"/>
                    <a:pt x="61467" y="259066"/>
                    <a:pt x="37473" y="235072"/>
                  </a:cubicBezTo>
                  <a:cubicBezTo>
                    <a:pt x="13479" y="211079"/>
                    <a:pt x="0" y="178536"/>
                    <a:pt x="0" y="144604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C0D1D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812800" cy="310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5516799" y="5803123"/>
            <a:ext cx="3486328" cy="181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ValidationException extends RuntimeException, UI panels extend JPanel.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024793" y="4742969"/>
            <a:ext cx="2466773" cy="620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38"/>
              </a:lnSpc>
            </a:pPr>
            <a:r>
              <a:rPr lang="en-US" sz="3670" b="true">
                <a:solidFill>
                  <a:srgbClr val="2E3A44"/>
                </a:solidFill>
                <a:latin typeface="Nunito Bold"/>
                <a:ea typeface="Nunito Bold"/>
                <a:cs typeface="Nunito Bold"/>
                <a:sym typeface="Nunito Bold"/>
              </a:rPr>
              <a:t>Inheritance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796491" y="4593859"/>
            <a:ext cx="3086100" cy="1034820"/>
            <a:chOff x="0" y="0"/>
            <a:chExt cx="812800" cy="27254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272545"/>
            </a:xfrm>
            <a:custGeom>
              <a:avLst/>
              <a:gdLst/>
              <a:ahLst/>
              <a:cxnLst/>
              <a:rect r="r" b="b" t="t" l="l"/>
              <a:pathLst>
                <a:path h="272545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44604"/>
                  </a:lnTo>
                  <a:cubicBezTo>
                    <a:pt x="812800" y="178536"/>
                    <a:pt x="799321" y="211079"/>
                    <a:pt x="775327" y="235072"/>
                  </a:cubicBezTo>
                  <a:cubicBezTo>
                    <a:pt x="751333" y="259066"/>
                    <a:pt x="718791" y="272545"/>
                    <a:pt x="684859" y="272545"/>
                  </a:cubicBezTo>
                  <a:lnTo>
                    <a:pt x="127941" y="272545"/>
                  </a:lnTo>
                  <a:cubicBezTo>
                    <a:pt x="94009" y="272545"/>
                    <a:pt x="61467" y="259066"/>
                    <a:pt x="37473" y="235072"/>
                  </a:cubicBezTo>
                  <a:cubicBezTo>
                    <a:pt x="13479" y="211079"/>
                    <a:pt x="0" y="178536"/>
                    <a:pt x="0" y="144604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C0D1D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812800" cy="310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9596377" y="5803123"/>
            <a:ext cx="3486328" cy="181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Interface references resolved at runtime, method overriding in UI panels.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730469" y="4752494"/>
            <a:ext cx="3218145" cy="584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3"/>
              </a:lnSpc>
            </a:pPr>
            <a:r>
              <a:rPr lang="en-US" sz="3495" b="true">
                <a:solidFill>
                  <a:srgbClr val="2E3A44"/>
                </a:solidFill>
                <a:latin typeface="Nunito Bold"/>
                <a:ea typeface="Nunito Bold"/>
                <a:cs typeface="Nunito Bold"/>
                <a:sym typeface="Nunito Bold"/>
              </a:rPr>
              <a:t>Polymorphism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3876070" y="4593859"/>
            <a:ext cx="3086100" cy="1034820"/>
            <a:chOff x="0" y="0"/>
            <a:chExt cx="812800" cy="27254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272545"/>
            </a:xfrm>
            <a:custGeom>
              <a:avLst/>
              <a:gdLst/>
              <a:ahLst/>
              <a:cxnLst/>
              <a:rect r="r" b="b" t="t" l="l"/>
              <a:pathLst>
                <a:path h="272545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44604"/>
                  </a:lnTo>
                  <a:cubicBezTo>
                    <a:pt x="812800" y="178536"/>
                    <a:pt x="799321" y="211079"/>
                    <a:pt x="775327" y="235072"/>
                  </a:cubicBezTo>
                  <a:cubicBezTo>
                    <a:pt x="751333" y="259066"/>
                    <a:pt x="718791" y="272545"/>
                    <a:pt x="684859" y="272545"/>
                  </a:cubicBezTo>
                  <a:lnTo>
                    <a:pt x="127941" y="272545"/>
                  </a:lnTo>
                  <a:cubicBezTo>
                    <a:pt x="94009" y="272545"/>
                    <a:pt x="61467" y="259066"/>
                    <a:pt x="37473" y="235072"/>
                  </a:cubicBezTo>
                  <a:cubicBezTo>
                    <a:pt x="13479" y="211079"/>
                    <a:pt x="0" y="178536"/>
                    <a:pt x="0" y="144604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C0D1D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812800" cy="310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3675956" y="5803123"/>
            <a:ext cx="3486328" cy="895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DAO pattern for data access abstraction.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063386" y="4587542"/>
            <a:ext cx="2711467" cy="999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6"/>
              </a:lnSpc>
            </a:pPr>
            <a:r>
              <a:rPr lang="en-US" sz="2911" b="true">
                <a:solidFill>
                  <a:srgbClr val="2E3A44"/>
                </a:solidFill>
                <a:latin typeface="Nunito Bold"/>
                <a:ea typeface="Nunito Bold"/>
                <a:cs typeface="Nunito Bold"/>
                <a:sym typeface="Nunito Bold"/>
              </a:rPr>
              <a:t>Design Pattern (DAO)</a:t>
            </a:r>
          </a:p>
        </p:txBody>
      </p:sp>
      <p:sp>
        <p:nvSpPr>
          <p:cNvPr name="Freeform 30" id="30" descr="preencoded.png"/>
          <p:cNvSpPr/>
          <p:nvPr/>
        </p:nvSpPr>
        <p:spPr>
          <a:xfrm flipH="false" flipV="false" rot="0">
            <a:off x="2708155" y="3677078"/>
            <a:ext cx="697706" cy="697706"/>
          </a:xfrm>
          <a:custGeom>
            <a:avLst/>
            <a:gdLst/>
            <a:ahLst/>
            <a:cxnLst/>
            <a:rect r="r" b="b" t="t" l="l"/>
            <a:pathLst>
              <a:path h="697706" w="697706">
                <a:moveTo>
                  <a:pt x="0" y="0"/>
                </a:moveTo>
                <a:lnTo>
                  <a:pt x="697707" y="0"/>
                </a:lnTo>
                <a:lnTo>
                  <a:pt x="697707" y="697706"/>
                </a:lnTo>
                <a:lnTo>
                  <a:pt x="0" y="6977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2162" r="0" b="-12162"/>
            </a:stretch>
          </a:blipFill>
        </p:spPr>
      </p:sp>
      <p:sp>
        <p:nvSpPr>
          <p:cNvPr name="Freeform 31" id="31" descr="preencoded.png"/>
          <p:cNvSpPr/>
          <p:nvPr/>
        </p:nvSpPr>
        <p:spPr>
          <a:xfrm flipH="false" flipV="false" rot="0">
            <a:off x="6909327" y="3677078"/>
            <a:ext cx="697706" cy="697706"/>
          </a:xfrm>
          <a:custGeom>
            <a:avLst/>
            <a:gdLst/>
            <a:ahLst/>
            <a:cxnLst/>
            <a:rect r="r" b="b" t="t" l="l"/>
            <a:pathLst>
              <a:path h="697706" w="697706">
                <a:moveTo>
                  <a:pt x="0" y="0"/>
                </a:moveTo>
                <a:lnTo>
                  <a:pt x="697706" y="0"/>
                </a:lnTo>
                <a:lnTo>
                  <a:pt x="697706" y="697706"/>
                </a:lnTo>
                <a:lnTo>
                  <a:pt x="0" y="6977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404" r="0" b="-5406"/>
            </a:stretch>
          </a:blipFill>
        </p:spPr>
      </p:sp>
      <p:sp>
        <p:nvSpPr>
          <p:cNvPr name="Freeform 32" id="32" descr="preencoded.png"/>
          <p:cNvSpPr/>
          <p:nvPr/>
        </p:nvSpPr>
        <p:spPr>
          <a:xfrm flipH="false" flipV="false" rot="0">
            <a:off x="10990688" y="3677078"/>
            <a:ext cx="697706" cy="697706"/>
          </a:xfrm>
          <a:custGeom>
            <a:avLst/>
            <a:gdLst/>
            <a:ahLst/>
            <a:cxnLst/>
            <a:rect r="r" b="b" t="t" l="l"/>
            <a:pathLst>
              <a:path h="697706" w="697706">
                <a:moveTo>
                  <a:pt x="0" y="0"/>
                </a:moveTo>
                <a:lnTo>
                  <a:pt x="697707" y="0"/>
                </a:lnTo>
                <a:lnTo>
                  <a:pt x="697707" y="697706"/>
                </a:lnTo>
                <a:lnTo>
                  <a:pt x="0" y="6977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703" t="0" r="-2701" b="0"/>
            </a:stretch>
          </a:blipFill>
        </p:spPr>
      </p:sp>
      <p:sp>
        <p:nvSpPr>
          <p:cNvPr name="Freeform 33" id="33" descr="preencoded.png"/>
          <p:cNvSpPr/>
          <p:nvPr/>
        </p:nvSpPr>
        <p:spPr>
          <a:xfrm flipH="false" flipV="false" rot="0">
            <a:off x="15193595" y="3629453"/>
            <a:ext cx="697706" cy="697706"/>
          </a:xfrm>
          <a:custGeom>
            <a:avLst/>
            <a:gdLst/>
            <a:ahLst/>
            <a:cxnLst/>
            <a:rect r="r" b="b" t="t" l="l"/>
            <a:pathLst>
              <a:path h="697706" w="697706">
                <a:moveTo>
                  <a:pt x="0" y="0"/>
                </a:moveTo>
                <a:lnTo>
                  <a:pt x="697706" y="0"/>
                </a:lnTo>
                <a:lnTo>
                  <a:pt x="697706" y="697706"/>
                </a:lnTo>
                <a:lnTo>
                  <a:pt x="0" y="6977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188758" y="-1212893"/>
            <a:ext cx="3517329" cy="351732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985638" y="5243962"/>
            <a:ext cx="8028675" cy="802867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D1D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028700" y="9258300"/>
            <a:ext cx="16185445" cy="0"/>
          </a:xfrm>
          <a:prstGeom prst="line">
            <a:avLst/>
          </a:prstGeom>
          <a:ln cap="flat" w="38100">
            <a:solidFill>
              <a:srgbClr val="2E3A44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9" id="9"/>
          <p:cNvGrpSpPr/>
          <p:nvPr/>
        </p:nvGrpSpPr>
        <p:grpSpPr>
          <a:xfrm rot="0">
            <a:off x="17259300" y="3262130"/>
            <a:ext cx="1586288" cy="158628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4339404" y="433205"/>
            <a:ext cx="9609191" cy="2828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b="true" sz="7500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TECHNICAL HIGHLIGHT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2281994" y="3658005"/>
            <a:ext cx="580876" cy="580876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294172" y="4297291"/>
            <a:ext cx="3356774" cy="3510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3"/>
              </a:lnSpc>
            </a:pPr>
            <a:r>
              <a:rPr lang="en-US" sz="2223" b="true">
                <a:solidFill>
                  <a:srgbClr val="2E3A44"/>
                </a:solidFill>
                <a:latin typeface="Nunito Bold"/>
                <a:ea typeface="Nunito Bold"/>
                <a:cs typeface="Nunito Bold"/>
                <a:sym typeface="Nunito Bold"/>
              </a:rPr>
              <a:t>Generic FileManager (Java Generics)</a:t>
            </a:r>
          </a:p>
          <a:p>
            <a:pPr algn="l">
              <a:lnSpc>
                <a:spcPts val="3113"/>
              </a:lnSpc>
            </a:pPr>
            <a:r>
              <a:rPr lang="en-US" sz="2223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 → Single reusable method for all entities (Product, Category, Supplier)</a:t>
            </a:r>
          </a:p>
          <a:p>
            <a:pPr algn="l">
              <a:lnSpc>
                <a:spcPts val="3113"/>
              </a:lnSpc>
            </a:pPr>
            <a:r>
              <a:rPr lang="en-US" sz="2223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 → Reduces code duplication and improves maintainability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593168" y="3658005"/>
            <a:ext cx="580876" cy="580876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285258" y="3658005"/>
            <a:ext cx="580876" cy="580876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4898319" y="3658005"/>
            <a:ext cx="580876" cy="580876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5187747" y="4297291"/>
            <a:ext cx="3356774" cy="3510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3"/>
              </a:lnSpc>
            </a:pPr>
            <a:r>
              <a:rPr lang="en-US" sz="2223" b="true">
                <a:solidFill>
                  <a:srgbClr val="2E3A44"/>
                </a:solidFill>
                <a:latin typeface="Nunito Bold"/>
                <a:ea typeface="Nunito Bold"/>
                <a:cs typeface="Nunito Bold"/>
                <a:sym typeface="Nunito Bold"/>
              </a:rPr>
              <a:t>Service Layer Validation</a:t>
            </a:r>
          </a:p>
          <a:p>
            <a:pPr algn="l">
              <a:lnSpc>
                <a:spcPts val="3113"/>
              </a:lnSpc>
            </a:pPr>
            <a:r>
              <a:rPr lang="en-US" sz="2223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 → Centralized validation for all inputs</a:t>
            </a:r>
          </a:p>
          <a:p>
            <a:pPr algn="l">
              <a:lnSpc>
                <a:spcPts val="3113"/>
              </a:lnSpc>
            </a:pPr>
            <a:r>
              <a:rPr lang="en-US" sz="2223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 → Ensures data integrity &amp; prevents invalid operations</a:t>
            </a:r>
          </a:p>
          <a:p>
            <a:pPr algn="l">
              <a:lnSpc>
                <a:spcPts val="3113"/>
              </a:lnSpc>
            </a:pPr>
            <a:r>
              <a:rPr lang="en-US" sz="2223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 → Enforces referential integrity (valid category &amp; supplier)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409472" y="4297291"/>
            <a:ext cx="3391510" cy="3151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5"/>
              </a:lnSpc>
            </a:pPr>
            <a:r>
              <a:rPr lang="en-US" sz="2246" b="true">
                <a:solidFill>
                  <a:srgbClr val="2E3A44"/>
                </a:solidFill>
                <a:latin typeface="Nunito Bold"/>
                <a:ea typeface="Nunito Bold"/>
                <a:cs typeface="Nunito Bold"/>
                <a:sym typeface="Nunito Bold"/>
              </a:rPr>
              <a:t>Unique ID Generation</a:t>
            </a:r>
          </a:p>
          <a:p>
            <a:pPr algn="l">
              <a:lnSpc>
                <a:spcPts val="3145"/>
              </a:lnSpc>
            </a:pPr>
            <a:r>
              <a:rPr lang="en-US" sz="2246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 → Auto-generated sequential IDs (PRD001, PRD002…)</a:t>
            </a:r>
          </a:p>
          <a:p>
            <a:pPr algn="l">
              <a:lnSpc>
                <a:spcPts val="3145"/>
              </a:lnSpc>
            </a:pPr>
            <a:r>
              <a:rPr lang="en-US" sz="2246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 → Prevents duplication even after deletions</a:t>
            </a:r>
          </a:p>
          <a:p>
            <a:pPr algn="l">
              <a:lnSpc>
                <a:spcPts val="3145"/>
              </a:lnSpc>
            </a:pPr>
            <a:r>
              <a:rPr lang="en-US" sz="2246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 → Ensures consistent product tracking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344407" y="4297291"/>
            <a:ext cx="3356774" cy="3510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3"/>
              </a:lnSpc>
            </a:pPr>
            <a:r>
              <a:rPr lang="en-US" sz="2223" b="true">
                <a:solidFill>
                  <a:srgbClr val="2E3A44"/>
                </a:solidFill>
                <a:latin typeface="Nunito Bold"/>
                <a:ea typeface="Nunito Bold"/>
                <a:cs typeface="Nunito Bold"/>
                <a:sym typeface="Nunito Bold"/>
              </a:rPr>
              <a:t>Low Stock Detection Logic</a:t>
            </a:r>
          </a:p>
          <a:p>
            <a:pPr algn="l">
              <a:lnSpc>
                <a:spcPts val="3113"/>
              </a:lnSpc>
            </a:pPr>
            <a:r>
              <a:rPr lang="en-US" sz="2223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 → Encapsulated inside Product class</a:t>
            </a:r>
          </a:p>
          <a:p>
            <a:pPr algn="l">
              <a:lnSpc>
                <a:spcPts val="3113"/>
              </a:lnSpc>
            </a:pPr>
            <a:r>
              <a:rPr lang="en-US" sz="2223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 → Reusable across Dashboard &amp; Low Stock panel</a:t>
            </a:r>
          </a:p>
          <a:p>
            <a:pPr algn="l">
              <a:lnSpc>
                <a:spcPts val="3113"/>
              </a:lnSpc>
            </a:pPr>
            <a:r>
              <a:rPr lang="en-US" sz="2223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 → Provides real-time inventory alerts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-1096002" y="-1493449"/>
            <a:ext cx="3517329" cy="3517329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3253178" y="1329878"/>
            <a:ext cx="1586288" cy="1586288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245194" y="-1345629"/>
            <a:ext cx="3517329" cy="351732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8134248" y="-1345629"/>
            <a:ext cx="13341342" cy="1334134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D1D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028700" y="9258300"/>
            <a:ext cx="16185445" cy="0"/>
          </a:xfrm>
          <a:prstGeom prst="line">
            <a:avLst/>
          </a:prstGeom>
          <a:ln cap="flat" w="38100">
            <a:solidFill>
              <a:srgbClr val="2E3A44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9" id="9"/>
          <p:cNvGrpSpPr/>
          <p:nvPr/>
        </p:nvGrpSpPr>
        <p:grpSpPr>
          <a:xfrm rot="0">
            <a:off x="17259300" y="3262130"/>
            <a:ext cx="1586288" cy="158628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1252268" y="948394"/>
            <a:ext cx="6007032" cy="3509499"/>
          </a:xfrm>
          <a:custGeom>
            <a:avLst/>
            <a:gdLst/>
            <a:ahLst/>
            <a:cxnLst/>
            <a:rect r="r" b="b" t="t" l="l"/>
            <a:pathLst>
              <a:path h="3509499" w="6007032">
                <a:moveTo>
                  <a:pt x="0" y="0"/>
                </a:moveTo>
                <a:lnTo>
                  <a:pt x="6007032" y="0"/>
                </a:lnTo>
                <a:lnTo>
                  <a:pt x="6007032" y="3509499"/>
                </a:lnTo>
                <a:lnTo>
                  <a:pt x="0" y="35094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331400" y="4848418"/>
            <a:ext cx="5715356" cy="3339093"/>
          </a:xfrm>
          <a:custGeom>
            <a:avLst/>
            <a:gdLst/>
            <a:ahLst/>
            <a:cxnLst/>
            <a:rect r="r" b="b" t="t" l="l"/>
            <a:pathLst>
              <a:path h="3339093" w="5715356">
                <a:moveTo>
                  <a:pt x="0" y="0"/>
                </a:moveTo>
                <a:lnTo>
                  <a:pt x="5715356" y="0"/>
                </a:lnTo>
                <a:lnTo>
                  <a:pt x="5715356" y="3339093"/>
                </a:lnTo>
                <a:lnTo>
                  <a:pt x="0" y="33390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5443" y="4848418"/>
            <a:ext cx="6030257" cy="3523068"/>
          </a:xfrm>
          <a:custGeom>
            <a:avLst/>
            <a:gdLst/>
            <a:ahLst/>
            <a:cxnLst/>
            <a:rect r="r" b="b" t="t" l="l"/>
            <a:pathLst>
              <a:path h="3523068" w="6030257">
                <a:moveTo>
                  <a:pt x="0" y="0"/>
                </a:moveTo>
                <a:lnTo>
                  <a:pt x="6030257" y="0"/>
                </a:lnTo>
                <a:lnTo>
                  <a:pt x="6030257" y="3523068"/>
                </a:lnTo>
                <a:lnTo>
                  <a:pt x="0" y="35230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165700" y="4848418"/>
            <a:ext cx="6030257" cy="3523068"/>
          </a:xfrm>
          <a:custGeom>
            <a:avLst/>
            <a:gdLst/>
            <a:ahLst/>
            <a:cxnLst/>
            <a:rect r="r" b="b" t="t" l="l"/>
            <a:pathLst>
              <a:path h="3523068" w="6030257">
                <a:moveTo>
                  <a:pt x="0" y="0"/>
                </a:moveTo>
                <a:lnTo>
                  <a:pt x="6030257" y="0"/>
                </a:lnTo>
                <a:lnTo>
                  <a:pt x="6030257" y="3523068"/>
                </a:lnTo>
                <a:lnTo>
                  <a:pt x="0" y="35230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5506300" y="948394"/>
            <a:ext cx="5520462" cy="3225230"/>
          </a:xfrm>
          <a:custGeom>
            <a:avLst/>
            <a:gdLst/>
            <a:ahLst/>
            <a:cxnLst/>
            <a:rect r="r" b="b" t="t" l="l"/>
            <a:pathLst>
              <a:path h="3225230" w="5520462">
                <a:moveTo>
                  <a:pt x="0" y="0"/>
                </a:moveTo>
                <a:lnTo>
                  <a:pt x="5520462" y="0"/>
                </a:lnTo>
                <a:lnTo>
                  <a:pt x="5520462" y="3225230"/>
                </a:lnTo>
                <a:lnTo>
                  <a:pt x="0" y="32252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28700" y="328430"/>
            <a:ext cx="4016233" cy="3653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50"/>
              </a:lnSpc>
            </a:pPr>
            <a:r>
              <a:rPr lang="en-US" sz="9679" b="true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LIVE </a:t>
            </a:r>
          </a:p>
          <a:p>
            <a:pPr algn="l">
              <a:lnSpc>
                <a:spcPts val="13550"/>
              </a:lnSpc>
            </a:pPr>
            <a:r>
              <a:rPr lang="en-US" sz="9679" b="true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DEMO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C0D1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1965" y="-2876710"/>
            <a:ext cx="16040420" cy="1604042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211909" y="2963670"/>
            <a:ext cx="7864182" cy="4621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10"/>
              </a:lnSpc>
            </a:pPr>
            <a:r>
              <a:rPr lang="en-US" sz="17000" b="true">
                <a:solidFill>
                  <a:srgbClr val="627484"/>
                </a:solidFill>
                <a:latin typeface="Nirand Bold"/>
                <a:ea typeface="Nirand Bold"/>
                <a:cs typeface="Nirand Bold"/>
                <a:sym typeface="Nirand Bold"/>
              </a:rPr>
              <a:t>Thank You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3076091" y="710993"/>
            <a:ext cx="2513081" cy="2513081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-1700579" y="1028700"/>
            <a:ext cx="7733905" cy="0"/>
          </a:xfrm>
          <a:prstGeom prst="line">
            <a:avLst/>
          </a:prstGeom>
          <a:ln cap="flat" w="38100">
            <a:solidFill>
              <a:srgbClr val="2E3A44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10" id="10"/>
          <p:cNvSpPr/>
          <p:nvPr/>
        </p:nvSpPr>
        <p:spPr>
          <a:xfrm>
            <a:off x="11230885" y="9258300"/>
            <a:ext cx="7770392" cy="0"/>
          </a:xfrm>
          <a:prstGeom prst="line">
            <a:avLst/>
          </a:prstGeom>
          <a:ln cap="flat" w="38100">
            <a:solidFill>
              <a:srgbClr val="2E3A44"/>
            </a:solidFill>
            <a:prstDash val="solid"/>
            <a:headEnd type="oval" len="lg" w="lg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2740932" y="6266276"/>
            <a:ext cx="1586288" cy="1586288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DAHFUWpQuCs</dc:identifier>
  <dcterms:modified xsi:type="dcterms:W3CDTF">2011-08-01T06:04:30Z</dcterms:modified>
  <cp:revision>1</cp:revision>
  <dc:title>InvenTrack (1).pptx</dc:title>
</cp:coreProperties>
</file>